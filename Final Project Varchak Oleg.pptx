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5" r:id="rId9"/>
    <p:sldId id="267" r:id="rId10"/>
    <p:sldId id="268" r:id="rId11"/>
    <p:sldId id="269" r:id="rId12"/>
    <p:sldId id="275" r:id="rId13"/>
    <p:sldId id="276" r:id="rId14"/>
    <p:sldId id="277" r:id="rId15"/>
    <p:sldId id="278" r:id="rId16"/>
    <p:sldId id="279" r:id="rId17"/>
    <p:sldId id="280" r:id="rId18"/>
    <p:sldId id="285" r:id="rId19"/>
    <p:sldId id="284" r:id="rId20"/>
    <p:sldId id="283" r:id="rId21"/>
    <p:sldId id="288" r:id="rId22"/>
    <p:sldId id="286" r:id="rId23"/>
    <p:sldId id="287" r:id="rId24"/>
    <p:sldId id="289" r:id="rId25"/>
    <p:sldId id="290" r:id="rId26"/>
    <p:sldId id="291" r:id="rId27"/>
    <p:sldId id="292" r:id="rId28"/>
    <p:sldId id="293" r:id="rId29"/>
    <p:sldId id="295" r:id="rId30"/>
    <p:sldId id="301" r:id="rId31"/>
    <p:sldId id="296" r:id="rId32"/>
    <p:sldId id="297" r:id="rId33"/>
    <p:sldId id="298" r:id="rId34"/>
    <p:sldId id="299" r:id="rId35"/>
    <p:sldId id="300" r:id="rId36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64" autoAdjust="0"/>
  </p:normalViewPr>
  <p:slideViewPr>
    <p:cSldViewPr snapToGrid="0">
      <p:cViewPr varScale="1">
        <p:scale>
          <a:sx n="91" d="100"/>
          <a:sy n="91" d="100"/>
        </p:scale>
        <p:origin x="341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EACF0D-5855-4659-9048-3AF1886143F3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4BA05D-AFF3-42A4-843E-412AA2474EA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0063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57426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40315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1A64B-32C7-9981-6DDB-768F6367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>
            <a:extLst>
              <a:ext uri="{FF2B5EF4-FFF2-40B4-BE49-F238E27FC236}">
                <a16:creationId xmlns:a16="http://schemas.microsoft.com/office/drawing/2014/main" id="{32E690F6-5672-C401-7509-4A70ACA9C5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>
            <a:extLst>
              <a:ext uri="{FF2B5EF4-FFF2-40B4-BE49-F238E27FC236}">
                <a16:creationId xmlns:a16="http://schemas.microsoft.com/office/drawing/2014/main" id="{03311489-D272-BA83-37B3-B4208D875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8939C884-7725-F2AC-B9C1-82F7CF78A6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695323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0519F-51EA-4A4E-BA96-592A68E8F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>
            <a:extLst>
              <a:ext uri="{FF2B5EF4-FFF2-40B4-BE49-F238E27FC236}">
                <a16:creationId xmlns:a16="http://schemas.microsoft.com/office/drawing/2014/main" id="{A0F68798-5410-74C7-67C5-B545A556AE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>
            <a:extLst>
              <a:ext uri="{FF2B5EF4-FFF2-40B4-BE49-F238E27FC236}">
                <a16:creationId xmlns:a16="http://schemas.microsoft.com/office/drawing/2014/main" id="{B305DA1F-4FE9-3D6D-3406-FF6B2B4E1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30DB35B5-6842-1F52-18FD-274704FA35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34760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C3E35-075D-EE8B-6F87-5897A98A8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>
            <a:extLst>
              <a:ext uri="{FF2B5EF4-FFF2-40B4-BE49-F238E27FC236}">
                <a16:creationId xmlns:a16="http://schemas.microsoft.com/office/drawing/2014/main" id="{BC43C890-16EE-5E9B-4DB1-A8BB6D235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>
            <a:extLst>
              <a:ext uri="{FF2B5EF4-FFF2-40B4-BE49-F238E27FC236}">
                <a16:creationId xmlns:a16="http://schemas.microsoft.com/office/drawing/2014/main" id="{4DECFDCF-04F9-8CBE-C40A-2FFA654B5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BB2B6220-BF39-0247-1DF7-6FA08CB215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31605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BA05D-AFF3-42A4-843E-412AA2474EAC}" type="slidenum">
              <a:rPr lang="uk-UA" smtClean="0"/>
              <a:t>24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82832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53DE60-73D6-65E5-9F48-5CE8B35201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BAA30DBC-91AC-7E6A-38C1-440184E50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6F7CFD0-A39B-4678-DA4D-2266DD269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7A9CA315-D579-20A8-D6E3-A9D6E147F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C93FC99-03AA-9077-76C0-09974004B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705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5ED6CC-158A-84D7-6BFC-1E3BB9FF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EDF9ED45-B8E6-41C8-AD7F-1187D3E6B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1A459187-CFD1-1A78-8765-C5FF8CD10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2F3ADEEB-8C58-708E-4E18-4BDADDD9C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4937FEF-F8AE-1383-0F0C-7927E5B4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79131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3FCE0A-9A2B-4773-4867-9D0DDE3BD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6C41C40C-3062-9942-9EAC-D3DB5E9F6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37B2915D-B302-B9C8-08CC-FBC4EA57A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1DCF21E-57F8-48C2-42B0-D1DD18B2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6567A773-45D7-2E81-6CF5-746E19B8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03495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136D82-299F-FD06-6C46-794C6A365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7AA99C2-B7F1-C049-B2E7-954C8D23F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47244D82-19ED-8AA7-21C2-8BEC7F443F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E72285D-15D5-42B3-32AB-C3008BDF1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6DB10E4B-01A8-51BA-668D-20B79C131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CC2C4F58-E713-D824-4ECE-C17903ED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277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97EDD6-4C6C-E7CE-34EA-25CF6203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0E4FACAC-0D37-9AB8-8F48-14F7A8A24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F99085A0-788F-A8BE-038B-6EF864785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9DED02C6-FEE7-E130-B5F7-66D9B9D6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D8B68CD7-81EA-E58E-DFFA-D2ED767D11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B5D6DE8C-4A89-738F-D32D-13904C655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62F29829-C162-C0CB-F5D4-9CC02E5E3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562266C1-C1D7-F5FC-9F70-9EAE31C70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65173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B0A7E7-0207-03E8-5597-8A6CE0EBD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363F0E81-457B-9B83-81C5-B69BAE041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3EC2262E-7668-F6C2-0CDD-B44879D68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4A6F39DF-91A7-21EE-4CD6-7E95F0E17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00602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779A05F8-83A4-C36A-7B80-A2BA16A16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78700E00-9655-6BC6-8AAF-84020A6FD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722A46C4-C775-EFEC-8D7C-C5ADA6645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85387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D3BD82-DDA2-3AE1-5B8C-F7D29888A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7C285864-82F4-CD8E-0973-14F7F8CC6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BC314A40-D082-B6C5-48E5-8CE1F7646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25AC5079-1A44-B5E3-3526-6641EFA11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5C9A5F31-D1A0-96DC-E9A3-F3FF2201E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6C8E6AF8-6816-2F86-22B8-CCD944E6C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09764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3E9494-3146-B184-21BD-757BA2DB1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AFC5B57F-A44C-957E-C63C-B71E47F65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A0E0C2D-527E-3DE8-7DF7-C5A004809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21EFB8F5-6AF1-31EC-2191-72813577D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4DB4BAA1-A20C-0BC3-22E3-1CB11B415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E30A9F10-6DB6-A5F9-FDEC-BD0E8B0D7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47623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251B4D-81DB-0295-86EB-6A1C696CC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8A62D08-E7B0-FB14-ACBE-0E883AC153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928AF4-20B8-F71B-B91D-9160B9AA9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3177522F-531B-F1AA-F237-D70FA3FE0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AEB36A3C-D811-3CBD-51A3-98D241558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39051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6A450F11-ACDC-4BB3-1E81-69FE72B200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94B6B890-6C77-A6A8-1A5A-1FAF5C4B81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EF770249-3BB2-850B-BDAB-AFC799873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D6DC42D-F64E-7697-81AC-BACF725EC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019826E5-1A61-FD71-3ACB-526EB14C9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47865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648F7F17-76DF-7C4C-4AFF-A8C84E92F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AF16580D-FB28-C127-37B3-A2D9D9D59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0C78598A-DB8A-15A6-3A5F-834E24351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3FD50E-AD5D-4A8E-BDF2-4F9CAAFDD8F1}" type="datetimeFigureOut">
              <a:rPr lang="uk-UA" smtClean="0"/>
              <a:t>06.04.2026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5BB06184-BC40-3760-4A48-78315F892A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C27E7F6-C7CC-806B-CC5A-6E4EA6B67A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9E473-199D-463D-B7C7-B9F99895F39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31883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3737881-458F-40AD-B72B-B57D267DC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967126-346F-41EA-982D-63D8EBB60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BCD9601-1F44-4E40-998C-1B256DAE9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1A1CA4E9-12FA-47EB-8471-25E8D55152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E13A9BF0-334C-4457-A635-9CA4877EAAF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FF05821A-8598-44E4-A18C-538D5331E45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8A4ECC81-E17F-4F87-9A0B-398363A864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1FBBD7D8-A895-40D0-A53D-DEDF495B2F1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BA602493-BC70-48CF-BDBA-88A86622742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D910D64-066F-2955-5F84-045AEC098D96}"/>
              </a:ext>
            </a:extLst>
          </p:cNvPr>
          <p:cNvSpPr txBox="1"/>
          <p:nvPr/>
        </p:nvSpPr>
        <p:spPr>
          <a:xfrm>
            <a:off x="424543" y="1132114"/>
            <a:ext cx="287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Фінальний проєкт  курсу Аналітики даних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4C855-2A3E-5977-2B35-44B624C39C6A}"/>
              </a:ext>
            </a:extLst>
          </p:cNvPr>
          <p:cNvSpPr txBox="1"/>
          <p:nvPr/>
        </p:nvSpPr>
        <p:spPr>
          <a:xfrm>
            <a:off x="565031" y="4942114"/>
            <a:ext cx="2873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Варчак Олег </a:t>
            </a:r>
          </a:p>
        </p:txBody>
      </p:sp>
      <p:pic>
        <p:nvPicPr>
          <p:cNvPr id="11" name="Рисунок 10" descr="Graph">
            <a:extLst>
              <a:ext uri="{FF2B5EF4-FFF2-40B4-BE49-F238E27FC236}">
                <a16:creationId xmlns:a16="http://schemas.microsoft.com/office/drawing/2014/main" id="{D0B620CA-46AE-75DA-7840-6B9BBC24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372" y="6822"/>
            <a:ext cx="7750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50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5666830-9A19-4E01-8505-D6C7F9AC5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Рисунок 4" descr="Technological background">
            <a:extLst>
              <a:ext uri="{FF2B5EF4-FFF2-40B4-BE49-F238E27FC236}">
                <a16:creationId xmlns:a16="http://schemas.microsoft.com/office/drawing/2014/main" id="{4BFF4227-8C00-3D1F-3651-A328A9E010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110127" y="10"/>
            <a:ext cx="8081873" cy="685799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AE9FC877-7FB6-4D22-9988-35420644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E41809D1-F12E-46BB-B804-5F209D325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B4E5F0-22DB-2A48-A65F-DA89602816DE}"/>
              </a:ext>
            </a:extLst>
          </p:cNvPr>
          <p:cNvSpPr txBox="1"/>
          <p:nvPr/>
        </p:nvSpPr>
        <p:spPr>
          <a:xfrm>
            <a:off x="477981" y="1122363"/>
            <a:ext cx="4023360" cy="3204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dirty="0" err="1">
                <a:latin typeface="+mj-lt"/>
                <a:ea typeface="+mj-ea"/>
                <a:cs typeface="+mj-cs"/>
              </a:rPr>
              <a:t>Частина</a:t>
            </a:r>
            <a:r>
              <a:rPr lang="en-US" sz="4800" b="1" dirty="0">
                <a:latin typeface="+mj-lt"/>
                <a:ea typeface="+mj-ea"/>
                <a:cs typeface="+mj-cs"/>
              </a:rPr>
              <a:t> 1  SQL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670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Technological background">
            <a:extLst>
              <a:ext uri="{FF2B5EF4-FFF2-40B4-BE49-F238E27FC236}">
                <a16:creationId xmlns:a16="http://schemas.microsoft.com/office/drawing/2014/main" id="{D15677F2-D028-9150-B893-5357B34B01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724400" y="0"/>
            <a:ext cx="7467600" cy="685800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7CFBFB-0F16-B8B4-465B-FDA8F728F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16" y="1864563"/>
            <a:ext cx="1695687" cy="423921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4A7CA-6DD3-63E9-42EF-133719632F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825" y="180188"/>
            <a:ext cx="5857591" cy="217112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AD0458B-2871-E411-E4E6-198BC6680F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025" y="3309459"/>
            <a:ext cx="2409326" cy="279432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10D545-EDC1-2AEC-4438-8AB76EA94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15" y="152769"/>
            <a:ext cx="4383475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415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CFB5B-998E-F5C3-165C-E53CBC03D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Technological background">
            <a:extLst>
              <a:ext uri="{FF2B5EF4-FFF2-40B4-BE49-F238E27FC236}">
                <a16:creationId xmlns:a16="http://schemas.microsoft.com/office/drawing/2014/main" id="{8614F5CB-68BE-6DE8-6A48-C492809914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724400" y="0"/>
            <a:ext cx="7467600" cy="685800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7F166FF-4EC7-AF34-590F-ABB7E568E0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10" y="1432641"/>
            <a:ext cx="2219635" cy="250614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310B51B-73B1-5B18-F834-5195EB918F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10" y="4326822"/>
            <a:ext cx="2181529" cy="219707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B71E65A-E970-7591-B192-5BF5F279FB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1" y="3069676"/>
            <a:ext cx="1939018" cy="1730924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D3E625C-0DE2-D3AC-730B-21F904E1C1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476" y="64177"/>
            <a:ext cx="4300996" cy="129653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D91B6FD-38F4-C142-F487-13048733DE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4177"/>
            <a:ext cx="4771589" cy="156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66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DA897-24F3-4BDF-B128-FEA3FF986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Technological background">
            <a:extLst>
              <a:ext uri="{FF2B5EF4-FFF2-40B4-BE49-F238E27FC236}">
                <a16:creationId xmlns:a16="http://schemas.microsoft.com/office/drawing/2014/main" id="{11688E97-19DE-29AE-BFD3-B4C43C6514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724400" y="0"/>
            <a:ext cx="7467600" cy="685800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F32C01-9172-81F3-DD96-AC60FED850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4" y="160870"/>
            <a:ext cx="8070976" cy="116718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C1BF51-9419-1386-925C-60A235CCDA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2372" y="391885"/>
            <a:ext cx="3181794" cy="57158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A287168-9B9E-9EFC-E19A-C265A5E6EB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686" y="1936005"/>
            <a:ext cx="11214686" cy="199589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C072B16-C279-45E7-9E6E-57EC4BF54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09" y="4194634"/>
            <a:ext cx="3858163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87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44162-1FE3-30B6-4B65-9F6449C2E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Technological background">
            <a:extLst>
              <a:ext uri="{FF2B5EF4-FFF2-40B4-BE49-F238E27FC236}">
                <a16:creationId xmlns:a16="http://schemas.microsoft.com/office/drawing/2014/main" id="{574F0B69-92F7-B2D7-69D3-5E1DBE4054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8" r="17609" b="-1"/>
          <a:stretch>
            <a:fillRect/>
          </a:stretch>
        </p:blipFill>
        <p:spPr>
          <a:xfrm>
            <a:off x="4724400" y="0"/>
            <a:ext cx="7467600" cy="6858000"/>
          </a:xfrm>
          <a:custGeom>
            <a:avLst/>
            <a:gdLst/>
            <a:ahLst/>
            <a:cxnLst/>
            <a:rect l="l" t="t" r="r" b="b"/>
            <a:pathLst>
              <a:path w="8081873" h="6858000">
                <a:moveTo>
                  <a:pt x="0" y="0"/>
                </a:moveTo>
                <a:lnTo>
                  <a:pt x="8081873" y="0"/>
                </a:lnTo>
                <a:lnTo>
                  <a:pt x="8081873" y="6858000"/>
                </a:lnTo>
                <a:lnTo>
                  <a:pt x="0" y="6858000"/>
                </a:lnTo>
                <a:lnTo>
                  <a:pt x="68897" y="6734633"/>
                </a:lnTo>
                <a:cubicBezTo>
                  <a:pt x="558802" y="5812845"/>
                  <a:pt x="848920" y="4668597"/>
                  <a:pt x="848920" y="3429000"/>
                </a:cubicBezTo>
                <a:cubicBezTo>
                  <a:pt x="848920" y="2189404"/>
                  <a:pt x="558802" y="1045156"/>
                  <a:pt x="68897" y="123368"/>
                </a:cubicBezTo>
                <a:close/>
              </a:path>
            </a:pathLst>
          </a:cu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0312559-5274-1120-B6D2-31F4405066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61" y="685800"/>
            <a:ext cx="10672180" cy="193439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BDDC87-49F0-1073-5313-3402E522B0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1794" y="3429000"/>
            <a:ext cx="414395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014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Рисунок 8" descr="Graphs and plots layered on a blue digital screen">
            <a:extLst>
              <a:ext uri="{FF2B5EF4-FFF2-40B4-BE49-F238E27FC236}">
                <a16:creationId xmlns:a16="http://schemas.microsoft.com/office/drawing/2014/main" id="{5957DC86-5122-135B-9430-ADA636D694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36"/>
          <a:stretch>
            <a:fillRect/>
          </a:stretch>
        </p:blipFill>
        <p:spPr>
          <a:xfrm>
            <a:off x="2710542" y="10"/>
            <a:ext cx="9481455" cy="6857990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98DB95-CF56-C010-F3B6-94E9BAFAAA50}"/>
              </a:ext>
            </a:extLst>
          </p:cNvPr>
          <p:cNvSpPr txBox="1"/>
          <p:nvPr/>
        </p:nvSpPr>
        <p:spPr>
          <a:xfrm>
            <a:off x="609600" y="2423315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Частина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uk-UA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uk-UA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uk-UA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uk-UA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даних ІКЕА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045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22">
            <a:extLst>
              <a:ext uri="{FF2B5EF4-FFF2-40B4-BE49-F238E27FC236}">
                <a16:creationId xmlns:a16="http://schemas.microsoft.com/office/drawing/2014/main" id="{D880886B-02ED-4317-9236-CB60C22CF7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06203-3FB1-8769-470F-B9E854348B5F}"/>
              </a:ext>
            </a:extLst>
          </p:cNvPr>
          <p:cNvSpPr txBox="1"/>
          <p:nvPr/>
        </p:nvSpPr>
        <p:spPr>
          <a:xfrm>
            <a:off x="640080" y="4419600"/>
            <a:ext cx="10908792" cy="1203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1. Завантаження бази даних IKEA</a:t>
            </a:r>
          </a:p>
        </p:txBody>
      </p:sp>
      <p:pic>
        <p:nvPicPr>
          <p:cNvPr id="4" name="Рисунок 3" descr="Graphs and plots layered on a blue digital screen">
            <a:extLst>
              <a:ext uri="{FF2B5EF4-FFF2-40B4-BE49-F238E27FC236}">
                <a16:creationId xmlns:a16="http://schemas.microsoft.com/office/drawing/2014/main" id="{7C57BFC8-2021-E02F-0818-D2518B529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50"/>
          <a:stretch>
            <a:fillRect/>
          </a:stretch>
        </p:blipFill>
        <p:spPr>
          <a:xfrm>
            <a:off x="6" y="-11"/>
            <a:ext cx="6095994" cy="4194796"/>
          </a:xfrm>
          <a:custGeom>
            <a:avLst/>
            <a:gdLst/>
            <a:ahLst/>
            <a:cxnLst/>
            <a:rect l="l" t="t" r="r" b="b"/>
            <a:pathLst>
              <a:path w="6002835" h="4194796">
                <a:moveTo>
                  <a:pt x="0" y="0"/>
                </a:moveTo>
                <a:lnTo>
                  <a:pt x="5999418" y="0"/>
                </a:lnTo>
                <a:lnTo>
                  <a:pt x="5996190" y="32760"/>
                </a:lnTo>
                <a:cubicBezTo>
                  <a:pt x="5998706" y="293110"/>
                  <a:pt x="5983874" y="553460"/>
                  <a:pt x="5997116" y="813682"/>
                </a:cubicBezTo>
                <a:cubicBezTo>
                  <a:pt x="6007314" y="1015047"/>
                  <a:pt x="6000824" y="1216284"/>
                  <a:pt x="5997116" y="1417522"/>
                </a:cubicBezTo>
                <a:cubicBezTo>
                  <a:pt x="5989967" y="1803471"/>
                  <a:pt x="6000824" y="2188911"/>
                  <a:pt x="5996190" y="2574351"/>
                </a:cubicBezTo>
                <a:cubicBezTo>
                  <a:pt x="5994204" y="2745205"/>
                  <a:pt x="5996454" y="2915805"/>
                  <a:pt x="6000824" y="3086660"/>
                </a:cubicBezTo>
                <a:cubicBezTo>
                  <a:pt x="6007180" y="3330611"/>
                  <a:pt x="5997382" y="3574689"/>
                  <a:pt x="5986656" y="3818514"/>
                </a:cubicBezTo>
                <a:cubicBezTo>
                  <a:pt x="5983054" y="3885559"/>
                  <a:pt x="5982107" y="3952684"/>
                  <a:pt x="5983808" y="4019746"/>
                </a:cubicBezTo>
                <a:lnTo>
                  <a:pt x="5993788" y="4173418"/>
                </a:lnTo>
                <a:lnTo>
                  <a:pt x="5955106" y="4175101"/>
                </a:lnTo>
                <a:cubicBezTo>
                  <a:pt x="5890100" y="4175133"/>
                  <a:pt x="5825078" y="4173227"/>
                  <a:pt x="5760087" y="4171956"/>
                </a:cubicBezTo>
                <a:cubicBezTo>
                  <a:pt x="5521345" y="4167509"/>
                  <a:pt x="5282477" y="4171956"/>
                  <a:pt x="5044242" y="4149213"/>
                </a:cubicBezTo>
                <a:cubicBezTo>
                  <a:pt x="4979506" y="4143051"/>
                  <a:pt x="4914326" y="4139111"/>
                  <a:pt x="4849272" y="4139890"/>
                </a:cubicBezTo>
                <a:cubicBezTo>
                  <a:pt x="4784218" y="4140668"/>
                  <a:pt x="4719291" y="4146163"/>
                  <a:pt x="4655063" y="4158869"/>
                </a:cubicBezTo>
                <a:cubicBezTo>
                  <a:pt x="4447578" y="4199146"/>
                  <a:pt x="4239457" y="4201688"/>
                  <a:pt x="4029811" y="4185424"/>
                </a:cubicBezTo>
                <a:cubicBezTo>
                  <a:pt x="3943792" y="4178690"/>
                  <a:pt x="3857774" y="4167509"/>
                  <a:pt x="3771375" y="4169669"/>
                </a:cubicBezTo>
                <a:cubicBezTo>
                  <a:pt x="3623225" y="4173608"/>
                  <a:pt x="3474948" y="4165603"/>
                  <a:pt x="3326672" y="4167636"/>
                </a:cubicBezTo>
                <a:cubicBezTo>
                  <a:pt x="3322669" y="4168208"/>
                  <a:pt x="3318578" y="4167674"/>
                  <a:pt x="3314855" y="4166111"/>
                </a:cubicBezTo>
                <a:cubicBezTo>
                  <a:pt x="3278008" y="4140827"/>
                  <a:pt x="3237604" y="4150610"/>
                  <a:pt x="3199487" y="4157217"/>
                </a:cubicBezTo>
                <a:cubicBezTo>
                  <a:pt x="3072810" y="4179198"/>
                  <a:pt x="2946260" y="4189998"/>
                  <a:pt x="2817550" y="4172972"/>
                </a:cubicBezTo>
                <a:cubicBezTo>
                  <a:pt x="2694647" y="4155146"/>
                  <a:pt x="2569990" y="4152923"/>
                  <a:pt x="2446541" y="4166365"/>
                </a:cubicBezTo>
                <a:cubicBezTo>
                  <a:pt x="2276791" y="4186186"/>
                  <a:pt x="2107677" y="4181993"/>
                  <a:pt x="1938308" y="4166365"/>
                </a:cubicBezTo>
                <a:cubicBezTo>
                  <a:pt x="1869570" y="4160013"/>
                  <a:pt x="1799815" y="4149213"/>
                  <a:pt x="1731712" y="4165095"/>
                </a:cubicBezTo>
                <a:cubicBezTo>
                  <a:pt x="1647854" y="4184535"/>
                  <a:pt x="1564250" y="4178182"/>
                  <a:pt x="1480137" y="4173862"/>
                </a:cubicBezTo>
                <a:cubicBezTo>
                  <a:pt x="1373663" y="4168271"/>
                  <a:pt x="1267442" y="4152135"/>
                  <a:pt x="1160586" y="4164841"/>
                </a:cubicBezTo>
                <a:cubicBezTo>
                  <a:pt x="1111161" y="4170685"/>
                  <a:pt x="1062116" y="4179961"/>
                  <a:pt x="1012055" y="4177547"/>
                </a:cubicBezTo>
                <a:cubicBezTo>
                  <a:pt x="873562" y="4171194"/>
                  <a:pt x="735196" y="4163697"/>
                  <a:pt x="596449" y="4164841"/>
                </a:cubicBezTo>
                <a:cubicBezTo>
                  <a:pt x="538383" y="4165222"/>
                  <a:pt x="480699" y="4167128"/>
                  <a:pt x="422887" y="4171321"/>
                </a:cubicBezTo>
                <a:cubicBezTo>
                  <a:pt x="315015" y="4179198"/>
                  <a:pt x="207524" y="4168525"/>
                  <a:pt x="100033" y="4164714"/>
                </a:cubicBezTo>
                <a:lnTo>
                  <a:pt x="0" y="4169195"/>
                </a:lnTo>
                <a:close/>
              </a:path>
            </a:pathLst>
          </a:cu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A16380E-0619-D90E-73D0-7DC6E8479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647"/>
          <a:stretch>
            <a:fillRect/>
          </a:stretch>
        </p:blipFill>
        <p:spPr>
          <a:xfrm>
            <a:off x="6019800" y="12"/>
            <a:ext cx="6172195" cy="4186171"/>
          </a:xfrm>
          <a:custGeom>
            <a:avLst/>
            <a:gdLst/>
            <a:ahLst/>
            <a:cxnLst/>
            <a:rect l="l" t="t" r="r" b="b"/>
            <a:pathLst>
              <a:path w="6009490" h="4186171">
                <a:moveTo>
                  <a:pt x="9049" y="0"/>
                </a:moveTo>
                <a:lnTo>
                  <a:pt x="6009490" y="0"/>
                </a:lnTo>
                <a:lnTo>
                  <a:pt x="6009490" y="4168273"/>
                </a:lnTo>
                <a:lnTo>
                  <a:pt x="5803951" y="4172925"/>
                </a:lnTo>
                <a:cubicBezTo>
                  <a:pt x="5729787" y="4171950"/>
                  <a:pt x="5655658" y="4168322"/>
                  <a:pt x="5581704" y="4162045"/>
                </a:cubicBezTo>
                <a:cubicBezTo>
                  <a:pt x="5474340" y="4154041"/>
                  <a:pt x="5366086" y="4142987"/>
                  <a:pt x="5259485" y="4163316"/>
                </a:cubicBezTo>
                <a:cubicBezTo>
                  <a:pt x="5142465" y="4185805"/>
                  <a:pt x="5025571" y="4185932"/>
                  <a:pt x="4907534" y="4180215"/>
                </a:cubicBezTo>
                <a:cubicBezTo>
                  <a:pt x="4806650" y="4175387"/>
                  <a:pt x="4706147" y="4149975"/>
                  <a:pt x="4604501" y="4176784"/>
                </a:cubicBezTo>
                <a:cubicBezTo>
                  <a:pt x="4594387" y="4178258"/>
                  <a:pt x="4584082" y="4177826"/>
                  <a:pt x="4574133" y="4175514"/>
                </a:cubicBezTo>
                <a:cubicBezTo>
                  <a:pt x="4462958" y="4160140"/>
                  <a:pt x="4351020" y="4172718"/>
                  <a:pt x="4239463" y="4168398"/>
                </a:cubicBezTo>
                <a:cubicBezTo>
                  <a:pt x="4188005" y="4166365"/>
                  <a:pt x="4135530" y="4167509"/>
                  <a:pt x="4084706" y="4162045"/>
                </a:cubicBezTo>
                <a:cubicBezTo>
                  <a:pt x="3968067" y="4149594"/>
                  <a:pt x="3851682" y="4142987"/>
                  <a:pt x="3736314" y="4172337"/>
                </a:cubicBezTo>
                <a:cubicBezTo>
                  <a:pt x="3702643" y="4180253"/>
                  <a:pt x="3668235" y="4184509"/>
                  <a:pt x="3633650" y="4185043"/>
                </a:cubicBezTo>
                <a:cubicBezTo>
                  <a:pt x="3520696" y="4189109"/>
                  <a:pt x="3408122" y="4181358"/>
                  <a:pt x="3295549" y="4175005"/>
                </a:cubicBezTo>
                <a:cubicBezTo>
                  <a:pt x="3217408" y="4170558"/>
                  <a:pt x="3139394" y="4160902"/>
                  <a:pt x="3061127" y="4169034"/>
                </a:cubicBezTo>
                <a:cubicBezTo>
                  <a:pt x="3015640" y="4173735"/>
                  <a:pt x="2969772" y="4173735"/>
                  <a:pt x="2924285" y="4169034"/>
                </a:cubicBezTo>
                <a:cubicBezTo>
                  <a:pt x="2840452" y="4159212"/>
                  <a:pt x="2755870" y="4157382"/>
                  <a:pt x="2671694" y="4163570"/>
                </a:cubicBezTo>
                <a:cubicBezTo>
                  <a:pt x="2546033" y="4174370"/>
                  <a:pt x="2420500" y="4183391"/>
                  <a:pt x="2294459" y="4166238"/>
                </a:cubicBezTo>
                <a:cubicBezTo>
                  <a:pt x="2222976" y="4155006"/>
                  <a:pt x="2150298" y="4153685"/>
                  <a:pt x="2078460" y="4162300"/>
                </a:cubicBezTo>
                <a:cubicBezTo>
                  <a:pt x="1907313" y="4186314"/>
                  <a:pt x="1735785" y="4178563"/>
                  <a:pt x="1564257" y="4168653"/>
                </a:cubicBezTo>
                <a:cubicBezTo>
                  <a:pt x="1449650" y="4161918"/>
                  <a:pt x="1334536" y="4149594"/>
                  <a:pt x="1220183" y="4165857"/>
                </a:cubicBezTo>
                <a:cubicBezTo>
                  <a:pt x="1074321" y="4186186"/>
                  <a:pt x="928331" y="4179452"/>
                  <a:pt x="782087" y="4173481"/>
                </a:cubicBezTo>
                <a:cubicBezTo>
                  <a:pt x="674723" y="4169034"/>
                  <a:pt x="567232" y="4155565"/>
                  <a:pt x="459614" y="4172210"/>
                </a:cubicBezTo>
                <a:cubicBezTo>
                  <a:pt x="448535" y="4173722"/>
                  <a:pt x="437265" y="4172591"/>
                  <a:pt x="426706" y="4168907"/>
                </a:cubicBezTo>
                <a:cubicBezTo>
                  <a:pt x="385869" y="4155464"/>
                  <a:pt x="342085" y="4153660"/>
                  <a:pt x="300283" y="4163697"/>
                </a:cubicBezTo>
                <a:cubicBezTo>
                  <a:pt x="223159" y="4180596"/>
                  <a:pt x="146162" y="4187965"/>
                  <a:pt x="67640" y="4172591"/>
                </a:cubicBezTo>
                <a:lnTo>
                  <a:pt x="14015" y="4169393"/>
                </a:lnTo>
                <a:lnTo>
                  <a:pt x="28554" y="3856095"/>
                </a:lnTo>
                <a:cubicBezTo>
                  <a:pt x="30458" y="3735660"/>
                  <a:pt x="27412" y="3615306"/>
                  <a:pt x="15626" y="3495237"/>
                </a:cubicBezTo>
                <a:cubicBezTo>
                  <a:pt x="-847" y="3348740"/>
                  <a:pt x="-4304" y="3201174"/>
                  <a:pt x="5296" y="3054118"/>
                </a:cubicBezTo>
                <a:cubicBezTo>
                  <a:pt x="11786" y="2969961"/>
                  <a:pt x="18539" y="2885804"/>
                  <a:pt x="22776" y="2801522"/>
                </a:cubicBezTo>
                <a:cubicBezTo>
                  <a:pt x="28180" y="2681630"/>
                  <a:pt x="25173" y="2561524"/>
                  <a:pt x="13771" y="2442014"/>
                </a:cubicBezTo>
                <a:cubicBezTo>
                  <a:pt x="4237" y="2350879"/>
                  <a:pt x="3177" y="2259120"/>
                  <a:pt x="10593" y="2167807"/>
                </a:cubicBezTo>
                <a:cubicBezTo>
                  <a:pt x="25690" y="2012336"/>
                  <a:pt x="9931" y="1856863"/>
                  <a:pt x="5032" y="1701516"/>
                </a:cubicBezTo>
                <a:cubicBezTo>
                  <a:pt x="-3577" y="1415742"/>
                  <a:pt x="20393" y="1130095"/>
                  <a:pt x="9666" y="844320"/>
                </a:cubicBezTo>
                <a:cubicBezTo>
                  <a:pt x="3841" y="702958"/>
                  <a:pt x="16420" y="561723"/>
                  <a:pt x="9666" y="420361"/>
                </a:cubicBezTo>
                <a:cubicBezTo>
                  <a:pt x="4105" y="319805"/>
                  <a:pt x="397" y="219250"/>
                  <a:pt x="4105" y="118568"/>
                </a:cubicBezTo>
                <a:cubicBezTo>
                  <a:pt x="5164" y="91109"/>
                  <a:pt x="5826" y="63523"/>
                  <a:pt x="9534" y="36446"/>
                </a:cubicBezTo>
                <a:close/>
              </a:path>
            </a:pathLst>
          </a:custGeom>
        </p:spPr>
      </p:pic>
      <p:sp>
        <p:nvSpPr>
          <p:cNvPr id="33" name="sketch line">
            <a:extLst>
              <a:ext uri="{FF2B5EF4-FFF2-40B4-BE49-F238E27FC236}">
                <a16:creationId xmlns:a16="http://schemas.microsoft.com/office/drawing/2014/main" id="{28C31856-6ABF-41FD-B683-B06E5FFF92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8439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48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6BD5-1EA9-BB7E-7A63-D07AD5CA4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Graphs and plots layered on a blue digital screen">
            <a:extLst>
              <a:ext uri="{FF2B5EF4-FFF2-40B4-BE49-F238E27FC236}">
                <a16:creationId xmlns:a16="http://schemas.microsoft.com/office/drawing/2014/main" id="{A9BCCEED-0E4D-108B-4D19-01F6AD136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36"/>
          <a:stretch>
            <a:fillRect/>
          </a:stretch>
        </p:blipFill>
        <p:spPr>
          <a:xfrm>
            <a:off x="3635829" y="10"/>
            <a:ext cx="8556168" cy="68579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FE5A0F-B9B9-0146-2436-00E0A653E1E5}"/>
              </a:ext>
            </a:extLst>
          </p:cNvPr>
          <p:cNvSpPr txBox="1"/>
          <p:nvPr/>
        </p:nvSpPr>
        <p:spPr>
          <a:xfrm>
            <a:off x="446314" y="217714"/>
            <a:ext cx="5649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/>
              <a:t>Перегляд і очистка даних</a:t>
            </a:r>
            <a:endParaRPr lang="uk-UA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99B25E3-1A41-EE4A-E120-17502603BD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0970"/>
            <a:ext cx="7424057" cy="561702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5C5AF37-0792-312B-B3C1-0D03522BD1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5332" y="-1"/>
            <a:ext cx="8203731" cy="124096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8EF1F88-1C1D-395D-3A5B-2506B2D6E2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725" y="1824668"/>
            <a:ext cx="4469670" cy="394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2627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F0540-00E3-98A4-4EF4-EAFB26155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Graphs and plots layered on a blue digital screen">
            <a:extLst>
              <a:ext uri="{FF2B5EF4-FFF2-40B4-BE49-F238E27FC236}">
                <a16:creationId xmlns:a16="http://schemas.microsoft.com/office/drawing/2014/main" id="{69F1D2B2-732F-0F05-D9CF-E7D25EC86C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36"/>
          <a:stretch>
            <a:fillRect/>
          </a:stretch>
        </p:blipFill>
        <p:spPr>
          <a:xfrm>
            <a:off x="2710542" y="10"/>
            <a:ext cx="9481455" cy="685799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186E8E-30C8-FDAF-3187-5E79F1D0D9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54" y="0"/>
            <a:ext cx="2050785" cy="291495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4D17D-5150-A9C0-EFCC-48281121C1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54" y="3002039"/>
            <a:ext cx="3178098" cy="357293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326E79-3BE4-A8BD-DA6F-D795665642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1327" y="112627"/>
            <a:ext cx="5639587" cy="44773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A171825-9CC4-128A-B1D0-17032F5BE3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3465" y="5085737"/>
            <a:ext cx="4324954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92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B9E81-1BF9-41CD-92F9-64679DEA2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Graphs and plots layered on a blue digital screen">
            <a:extLst>
              <a:ext uri="{FF2B5EF4-FFF2-40B4-BE49-F238E27FC236}">
                <a16:creationId xmlns:a16="http://schemas.microsoft.com/office/drawing/2014/main" id="{5A29581F-EDF1-90CD-2698-7C87840DE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36"/>
          <a:stretch>
            <a:fillRect/>
          </a:stretch>
        </p:blipFill>
        <p:spPr>
          <a:xfrm>
            <a:off x="2710542" y="10"/>
            <a:ext cx="9481455" cy="685799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F9999D4-BA07-3B0C-F816-301D08EB72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946" y="206786"/>
            <a:ext cx="8842917" cy="644442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5166220-F240-19BD-C78C-090EDA5923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9" y="810626"/>
            <a:ext cx="2630293" cy="523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415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95042026-03BB-C884-165F-CC6D23AB84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E9DDA3-A9AE-4D36-F35E-34A8F88CE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8062" y="89211"/>
            <a:ext cx="6163578" cy="489538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C7BF40-21D1-8D10-A64C-D73291F9F5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0" y="89211"/>
            <a:ext cx="5728865" cy="48953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C6F083-D0EE-F282-099C-02BCB10A5656}"/>
              </a:ext>
            </a:extLst>
          </p:cNvPr>
          <p:cNvSpPr txBox="1"/>
          <p:nvPr/>
        </p:nvSpPr>
        <p:spPr>
          <a:xfrm>
            <a:off x="267629" y="5263376"/>
            <a:ext cx="5218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Найвища медіанна ціна в категорії шафи, дивани, крісла і ліжка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77EB1B-F48D-7FD2-CC35-C5DEA932727A}"/>
              </a:ext>
            </a:extLst>
          </p:cNvPr>
          <p:cNvSpPr txBox="1"/>
          <p:nvPr/>
        </p:nvSpPr>
        <p:spPr>
          <a:xfrm>
            <a:off x="6735337" y="5263376"/>
            <a:ext cx="47950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Найбільша кількість представлених товарів в групах Книжкові шафи та стелажі, стільці, дивани та крісла, стільці та столи.</a:t>
            </a:r>
          </a:p>
        </p:txBody>
      </p:sp>
    </p:spTree>
    <p:extLst>
      <p:ext uri="{BB962C8B-B14F-4D97-AF65-F5344CB8AC3E}">
        <p14:creationId xmlns:p14="http://schemas.microsoft.com/office/powerpoint/2010/main" val="3941783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F380624C-3B17-EE6B-4E28-3B7B0ADFC7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-1504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26E027E-57E0-81DC-03C8-5FE0B6EAE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5" y="92597"/>
            <a:ext cx="5729468" cy="516230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9970F22-17D7-C83B-83C6-DB08EEC5AB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9094" y="92596"/>
            <a:ext cx="6327331" cy="516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274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0C3CFB45-0A4D-4F59-3FA2-DF96054BAB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-1504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D6487A7-C429-D37B-855C-D8C785B6D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5" y="111512"/>
            <a:ext cx="8825847" cy="6400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30855C-FA59-3599-F236-11EAC12E1BD3}"/>
              </a:ext>
            </a:extLst>
          </p:cNvPr>
          <p:cNvSpPr txBox="1"/>
          <p:nvPr/>
        </p:nvSpPr>
        <p:spPr>
          <a:xfrm>
            <a:off x="9110547" y="992037"/>
            <a:ext cx="30197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Найбільша залежність ціни</a:t>
            </a:r>
          </a:p>
          <a:p>
            <a:r>
              <a:rPr lang="uk-UA" dirty="0">
                <a:solidFill>
                  <a:schemeClr val="bg1"/>
                </a:solidFill>
              </a:rPr>
              <a:t> від ширини</a:t>
            </a:r>
          </a:p>
          <a:p>
            <a:r>
              <a:rPr lang="uk-UA" dirty="0">
                <a:solidFill>
                  <a:schemeClr val="bg1"/>
                </a:solidFill>
              </a:rPr>
              <a:t>Потім глибини</a:t>
            </a:r>
          </a:p>
        </p:txBody>
      </p:sp>
    </p:spTree>
    <p:extLst>
      <p:ext uri="{BB962C8B-B14F-4D97-AF65-F5344CB8AC3E}">
        <p14:creationId xmlns:p14="http://schemas.microsoft.com/office/powerpoint/2010/main" val="2556059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E212A9BE-7DBA-6F04-C957-4E95D470D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CDCFD72-E1B0-C6C9-F5A7-C83910FFF4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9" y="78060"/>
            <a:ext cx="6000120" cy="326730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D4B144A-3DB8-C73D-A1EB-900DB960F5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78" y="3434574"/>
            <a:ext cx="6000121" cy="334536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D7F47CC-8956-3CA5-C748-BCF0DBE7CF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0353" y="3429000"/>
            <a:ext cx="5905769" cy="33453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430BD1-0366-14AC-44A1-D9E9125241F2}"/>
              </a:ext>
            </a:extLst>
          </p:cNvPr>
          <p:cNvSpPr txBox="1"/>
          <p:nvPr/>
        </p:nvSpPr>
        <p:spPr>
          <a:xfrm>
            <a:off x="7437863" y="78060"/>
            <a:ext cx="43378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Найбільше представлено товарів від дизайнерів </a:t>
            </a:r>
            <a:r>
              <a:rPr lang="en-US" dirty="0">
                <a:solidFill>
                  <a:schemeClr val="bg1"/>
                </a:solidFill>
              </a:rPr>
              <a:t>Ikea, </a:t>
            </a:r>
            <a:r>
              <a:rPr lang="uk-UA" dirty="0">
                <a:solidFill>
                  <a:schemeClr val="bg1"/>
                </a:solidFill>
              </a:rPr>
              <a:t>найвища медіанна ціна серед ТОП 15 дизайнерів по кількості</a:t>
            </a:r>
            <a:br>
              <a:rPr lang="uk-UA" dirty="0">
                <a:solidFill>
                  <a:schemeClr val="bg1"/>
                </a:solidFill>
              </a:rPr>
            </a:br>
            <a:r>
              <a:rPr lang="uk-UA" dirty="0">
                <a:solidFill>
                  <a:schemeClr val="bg1"/>
                </a:solidFill>
              </a:rPr>
              <a:t>це </a:t>
            </a:r>
            <a:r>
              <a:rPr lang="en-US" dirty="0">
                <a:solidFill>
                  <a:schemeClr val="bg1"/>
                </a:solidFill>
              </a:rPr>
              <a:t>K </a:t>
            </a:r>
            <a:r>
              <a:rPr lang="en-US" dirty="0" err="1">
                <a:solidFill>
                  <a:schemeClr val="bg1"/>
                </a:solidFill>
              </a:rPr>
              <a:t>Malmvall</a:t>
            </a:r>
            <a:r>
              <a:rPr lang="en-US" dirty="0">
                <a:solidFill>
                  <a:schemeClr val="bg1"/>
                </a:solidFill>
              </a:rPr>
              <a:t>/E Lilja </a:t>
            </a:r>
            <a:r>
              <a:rPr lang="en-US" dirty="0" err="1">
                <a:solidFill>
                  <a:schemeClr val="bg1"/>
                </a:solidFill>
              </a:rPr>
              <a:t>Löwenhielm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uk-UA" dirty="0">
                <a:solidFill>
                  <a:schemeClr val="bg1"/>
                </a:solidFill>
              </a:rPr>
              <a:t>в них 55 товарів). А ось найвища медіанна ціна по всім дизайнерам це у</a:t>
            </a:r>
            <a:br>
              <a:rPr lang="uk-UA" dirty="0">
                <a:solidFill>
                  <a:schemeClr val="bg1"/>
                </a:solidFill>
              </a:rPr>
            </a:br>
            <a:r>
              <a:rPr lang="en-US" dirty="0" err="1">
                <a:solidFill>
                  <a:schemeClr val="bg1"/>
                </a:solidFill>
              </a:rPr>
              <a:t>Ehlén</a:t>
            </a:r>
            <a:r>
              <a:rPr lang="en-US" dirty="0">
                <a:solidFill>
                  <a:schemeClr val="bg1"/>
                </a:solidFill>
              </a:rPr>
              <a:t> Johansson/Fredriksson/L </a:t>
            </a:r>
            <a:r>
              <a:rPr lang="en-US" dirty="0" err="1">
                <a:solidFill>
                  <a:schemeClr val="bg1"/>
                </a:solidFill>
              </a:rPr>
              <a:t>Löwenhielm</a:t>
            </a:r>
            <a:r>
              <a:rPr lang="en-US" dirty="0">
                <a:solidFill>
                  <a:schemeClr val="bg1"/>
                </a:solidFill>
              </a:rPr>
              <a:t>/Hilland </a:t>
            </a:r>
            <a:r>
              <a:rPr lang="uk-UA" dirty="0">
                <a:solidFill>
                  <a:schemeClr val="bg1"/>
                </a:solidFill>
              </a:rPr>
              <a:t>ця група з дизайнерів представлена 1 позицією</a:t>
            </a:r>
          </a:p>
          <a:p>
            <a:endParaRPr lang="uk-U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6691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982A1E8C-9F72-8261-2AC1-2C0FD8C8A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-132533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9587992-2577-C219-C7AA-A1536D5C83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60" y="133815"/>
            <a:ext cx="5389999" cy="558014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D7C3823-4AAE-B038-2591-8328A8B6DC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345" y="133814"/>
            <a:ext cx="6406245" cy="55801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BDE012-4AA4-7ACF-59E3-801EA0ECEB06}"/>
              </a:ext>
            </a:extLst>
          </p:cNvPr>
          <p:cNvSpPr txBox="1"/>
          <p:nvPr/>
        </p:nvSpPr>
        <p:spPr>
          <a:xfrm>
            <a:off x="301083" y="5898995"/>
            <a:ext cx="5653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Наявність інших кольорів є в 45% товарів і медіанна ціна вища там де є інші кольори</a:t>
            </a:r>
          </a:p>
        </p:txBody>
      </p:sp>
    </p:spTree>
    <p:extLst>
      <p:ext uri="{BB962C8B-B14F-4D97-AF65-F5344CB8AC3E}">
        <p14:creationId xmlns:p14="http://schemas.microsoft.com/office/powerpoint/2010/main" val="1978220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8AB1ED44-AFD5-ACB6-7ED3-35E7785EF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C5ABD0A-0E07-5D0B-81BE-C474427825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2" y="66908"/>
            <a:ext cx="6349783" cy="670188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200AD73-BF61-60C5-716E-207AEF4420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3122" y="66908"/>
            <a:ext cx="5596445" cy="41705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5FF6E71-C907-27F3-79E2-B549C38845B3}"/>
              </a:ext>
            </a:extLst>
          </p:cNvPr>
          <p:cNvSpPr txBox="1"/>
          <p:nvPr/>
        </p:nvSpPr>
        <p:spPr>
          <a:xfrm>
            <a:off x="9288966" y="4493941"/>
            <a:ext cx="27320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Доступність товарів які продаються онлайн це 99% і медіанна ціна їх вища</a:t>
            </a:r>
          </a:p>
        </p:txBody>
      </p:sp>
    </p:spTree>
    <p:extLst>
      <p:ext uri="{BB962C8B-B14F-4D97-AF65-F5344CB8AC3E}">
        <p14:creationId xmlns:p14="http://schemas.microsoft.com/office/powerpoint/2010/main" val="4097870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3396A-AF0E-C856-B37A-17E3C73E3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B41A000D-7548-0759-91EE-5E5E358575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F251D-6E44-3005-7E7A-89E948E60E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1" y="111512"/>
            <a:ext cx="9255512" cy="66015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B39ED0-B120-FAEC-C8A5-8BBBBFF6A9C6}"/>
              </a:ext>
            </a:extLst>
          </p:cNvPr>
          <p:cNvSpPr txBox="1"/>
          <p:nvPr/>
        </p:nvSpPr>
        <p:spPr>
          <a:xfrm>
            <a:off x="9612351" y="2219093"/>
            <a:ext cx="23863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chemeClr val="bg1"/>
                </a:solidFill>
              </a:rPr>
              <a:t>З лінії </a:t>
            </a:r>
            <a:r>
              <a:rPr lang="uk-UA">
                <a:solidFill>
                  <a:schemeClr val="bg1"/>
                </a:solidFill>
              </a:rPr>
              <a:t>регресії можна </a:t>
            </a:r>
            <a:r>
              <a:rPr lang="uk-UA" dirty="0">
                <a:solidFill>
                  <a:schemeClr val="bg1"/>
                </a:solidFill>
              </a:rPr>
              <a:t>прийти до висновку, що нова ціна залежить від старої</a:t>
            </a:r>
          </a:p>
          <a:p>
            <a:endParaRPr lang="uk-U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302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54D1-00BB-5696-932A-8E5FC84A5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4653BD45-E8DA-5BDD-C0E5-554CD256A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DFCA4E-3458-D74E-E0AA-AE8409BD4C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67" y="266701"/>
            <a:ext cx="5787102" cy="648652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C8B9B65-BAD8-B99A-1648-5E4BEA7650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8016" y="266701"/>
            <a:ext cx="5787103" cy="105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7797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630C8-882A-3A9C-5CD2-41AE5A228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C62917FF-62F0-3A3C-E1C7-8E767AB7E1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A2AC0FC-D3C0-BB5D-FA5A-BC58866FA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77" y="147390"/>
            <a:ext cx="5694574" cy="54379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C1D13F8-181D-BDC9-B39E-EE79DE477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8708" y="147390"/>
            <a:ext cx="6154009" cy="450281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BC135C7-6521-119C-DFF0-3E7FF7B59D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120" y="4676986"/>
            <a:ext cx="6109597" cy="215295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0B14A98-FBDE-E5B7-26AB-BBB3E623C4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77" y="5732764"/>
            <a:ext cx="5694574" cy="109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570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B551E-5FD0-FFA2-D4FD-6B18627B9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185C2C01-79D1-C9D2-1BB4-92F006D763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44E393-7A05-304B-13AA-994F2A319CDE}"/>
              </a:ext>
            </a:extLst>
          </p:cNvPr>
          <p:cNvSpPr txBox="1"/>
          <p:nvPr/>
        </p:nvSpPr>
        <p:spPr>
          <a:xfrm>
            <a:off x="7206343" y="664029"/>
            <a:ext cx="46699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Машинне навчання</a:t>
            </a:r>
          </a:p>
        </p:txBody>
      </p:sp>
    </p:spTree>
    <p:extLst>
      <p:ext uri="{BB962C8B-B14F-4D97-AF65-F5344CB8AC3E}">
        <p14:creationId xmlns:p14="http://schemas.microsoft.com/office/powerpoint/2010/main" val="3427927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8BF2F-DC83-3A4C-ACE8-C84DF9B1A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D5242BDB-C7F4-7D44-FD5B-D446C3321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26F782D-D88A-D85B-0E46-AC781025EE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3230" y="122745"/>
            <a:ext cx="6357256" cy="666205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BEBA4F7-E85C-1615-38CE-FCF9ED641B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02" y="122745"/>
            <a:ext cx="5526446" cy="666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511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658D8-FB51-8710-F09E-83600474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BFBAB85A-108D-F0C4-F470-73BD5D609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0" y="0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B02F43-7416-E9E9-89C7-57B321BA61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02" y="130630"/>
            <a:ext cx="5792570" cy="440871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1C7441-EEB5-DDC1-559E-5CAB5C17AD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0" y="130630"/>
            <a:ext cx="5857872" cy="440871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B58D271-172E-C0A8-9273-FC34D40B5E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55" y="4645300"/>
            <a:ext cx="5039731" cy="208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7150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985B5-7313-7E23-4BCA-EB38F9B7C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CC03B404-8896-C681-C10E-2EE0F72F0A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43460D-12DC-FE12-0C22-49BD3BAA24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7238" y="107764"/>
            <a:ext cx="5988447" cy="666315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30EDD84-FF32-5D80-9DFA-B8291F8AF5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3" y="107765"/>
            <a:ext cx="5852370" cy="666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8247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14D76-6D15-1554-2942-091A75BB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A539AACB-B1E8-822D-1263-C4782A030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8AAA82E-5836-C3DD-F7B0-3D2F87A504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4" y="76200"/>
            <a:ext cx="5780266" cy="367937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7675A9-7EEF-25A4-AB0E-3E1ADEDE8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4514" y="76200"/>
            <a:ext cx="6150352" cy="3679371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A9FA2C2-6AC7-A234-7150-5FA2C420EA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3" y="3901652"/>
            <a:ext cx="5780265" cy="28102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A2809CA-93B1-3A82-A5D5-DE020B6F88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4511" y="3901652"/>
            <a:ext cx="6150353" cy="28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34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57843-4846-C2E1-2FCF-60C87EDD5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88339105-AA34-A77C-E88A-5B16B009A0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5482681-D41A-56DF-3E64-F70CFEA9AE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3"/>
            <a:ext cx="5758543" cy="664028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DE634AF-4D63-8948-7CE1-BE8E0E22D2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743" y="119743"/>
            <a:ext cx="6248401" cy="6640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646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A853F-27A3-BC3C-8173-E41B2EF63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5C5709D0-1D83-6796-5261-DC535C151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6E916DF-39F9-F8D9-3BDC-C9D5CEDF17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799" y="97972"/>
            <a:ext cx="5689917" cy="660762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DAB42C5-6FC9-9E62-56B1-A3499B4718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83" y="97972"/>
            <a:ext cx="6198231" cy="660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6261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0F36-0DA8-6564-A74F-51878DFBF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The futuristic interface of a planet">
            <a:extLst>
              <a:ext uri="{FF2B5EF4-FFF2-40B4-BE49-F238E27FC236}">
                <a16:creationId xmlns:a16="http://schemas.microsoft.com/office/drawing/2014/main" id="{02EA319E-F39B-0A7A-AA61-EC853990EC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8ABD2D5-63A4-4593-A4A8-2D4BB1C747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55" y="98346"/>
            <a:ext cx="5970045" cy="540074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1624DA-5916-562D-8908-C616D39626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56" y="5596157"/>
            <a:ext cx="5988778" cy="116349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C294B59-BA5A-1D54-8C5B-FC9448D4BB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734" y="98347"/>
            <a:ext cx="5970046" cy="345007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4CC98F6-A25B-82F8-104E-25B072170B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734" y="3645485"/>
            <a:ext cx="5951310" cy="3114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6295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Digital financial graph">
            <a:extLst>
              <a:ext uri="{FF2B5EF4-FFF2-40B4-BE49-F238E27FC236}">
                <a16:creationId xmlns:a16="http://schemas.microsoft.com/office/drawing/2014/main" id="{D5877B93-1653-105C-7E3B-1FEB6BF45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" y="0"/>
            <a:ext cx="12191356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B1AA3A-6171-6F26-BCEF-E08C950DB859}"/>
              </a:ext>
            </a:extLst>
          </p:cNvPr>
          <p:cNvSpPr txBox="1"/>
          <p:nvPr/>
        </p:nvSpPr>
        <p:spPr>
          <a:xfrm>
            <a:off x="581891" y="755073"/>
            <a:ext cx="50084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Частина 3</a:t>
            </a:r>
          </a:p>
          <a:p>
            <a:r>
              <a:rPr lang="uk-UA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BI</a:t>
            </a:r>
            <a:endParaRPr lang="uk-UA" sz="3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8612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56CF7A6-7634-C468-AD94-8981A4620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951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6AD36B-0093-C8E3-9472-6CF1D54CF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720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7880F4C-3A89-C09C-1CD9-9375DBCA60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6212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146883-3F67-1A71-0F79-F827FC4FF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7799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924BF5-EAD5-B044-83B8-4FA42A0EC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11"/>
            <a:ext cx="12192000" cy="6830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5509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Рисунок 2" descr="Blue and white gradient">
            <a:extLst>
              <a:ext uri="{FF2B5EF4-FFF2-40B4-BE49-F238E27FC236}">
                <a16:creationId xmlns:a16="http://schemas.microsoft.com/office/drawing/2014/main" id="{0371E8F6-458D-F0B7-4B66-C8AE38B985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92" b="612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13DEC6-C646-9CF6-5EB5-F6254D8EA793}"/>
              </a:ext>
            </a:extLst>
          </p:cNvPr>
          <p:cNvSpPr txBox="1"/>
          <p:nvPr/>
        </p:nvSpPr>
        <p:spPr>
          <a:xfrm>
            <a:off x="3207224" y="1856096"/>
            <a:ext cx="6127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Дякую за увагу!</a:t>
            </a:r>
          </a:p>
        </p:txBody>
      </p:sp>
    </p:spTree>
    <p:extLst>
      <p:ext uri="{BB962C8B-B14F-4D97-AF65-F5344CB8AC3E}">
        <p14:creationId xmlns:p14="http://schemas.microsoft.com/office/powerpoint/2010/main" val="383481718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985</TotalTime>
  <Words>185</Words>
  <Application>Microsoft Office PowerPoint</Application>
  <PresentationFormat>Широкий екран</PresentationFormat>
  <Paragraphs>29</Paragraphs>
  <Slides>35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35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Times New Roman</vt:lpstr>
      <vt:lpstr>Тема Office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Олег Варчак</dc:creator>
  <cp:lastModifiedBy>Олег Варчак</cp:lastModifiedBy>
  <cp:revision>19</cp:revision>
  <dcterms:created xsi:type="dcterms:W3CDTF">2026-03-20T10:28:10Z</dcterms:created>
  <dcterms:modified xsi:type="dcterms:W3CDTF">2026-04-06T06:08:27Z</dcterms:modified>
</cp:coreProperties>
</file>