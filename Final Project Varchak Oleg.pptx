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7" r:id="rId10"/>
    <p:sldId id="268" r:id="rId11"/>
    <p:sldId id="269" r:id="rId12"/>
    <p:sldId id="275" r:id="rId13"/>
    <p:sldId id="276" r:id="rId14"/>
    <p:sldId id="277" r:id="rId15"/>
    <p:sldId id="278" r:id="rId16"/>
    <p:sldId id="279" r:id="rId17"/>
    <p:sldId id="280" r:id="rId18"/>
    <p:sldId id="285" r:id="rId19"/>
    <p:sldId id="284" r:id="rId20"/>
    <p:sldId id="283" r:id="rId21"/>
    <p:sldId id="288" r:id="rId22"/>
    <p:sldId id="286" r:id="rId23"/>
    <p:sldId id="287" r:id="rId24"/>
    <p:sldId id="289" r:id="rId25"/>
    <p:sldId id="290" r:id="rId26"/>
    <p:sldId id="291" r:id="rId27"/>
    <p:sldId id="292" r:id="rId28"/>
    <p:sldId id="293" r:id="rId29"/>
    <p:sldId id="303" r:id="rId30"/>
    <p:sldId id="295" r:id="rId31"/>
    <p:sldId id="301" r:id="rId32"/>
    <p:sldId id="296" r:id="rId33"/>
    <p:sldId id="297" r:id="rId34"/>
    <p:sldId id="298" r:id="rId35"/>
    <p:sldId id="299" r:id="rId36"/>
    <p:sldId id="300" r:id="rId3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64" autoAdjust="0"/>
  </p:normalViewPr>
  <p:slideViewPr>
    <p:cSldViewPr snapToGrid="0">
      <p:cViewPr varScale="1">
        <p:scale>
          <a:sx n="98" d="100"/>
          <a:sy n="98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ACF0D-5855-4659-9048-3AF1886143F3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A05D-AFF3-42A4-843E-412AA2474EA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006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742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0315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A64B-32C7-9981-6DDB-768F6367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32E690F6-5672-C401-7509-4A70ACA9C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03311489-D272-BA83-37B3-B4208D875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939C884-7725-F2AC-B9C1-82F7CF78A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953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519F-51EA-4A4E-BA96-592A68E8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A0F68798-5410-74C7-67C5-B545A556A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B305DA1F-4FE9-3D6D-3406-FF6B2B4E1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0DB35B5-6842-1F52-18FD-274704FA3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3476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3E35-075D-EE8B-6F87-5897A98A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BC43C890-16EE-5E9B-4DB1-A8BB6D235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4DECFDCF-04F9-8CBE-C40A-2FFA654B5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B2B6220-BF39-0247-1DF7-6FA08CB21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1605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BA05D-AFF3-42A4-843E-412AA2474EAC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2832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3DE60-73D6-65E5-9F48-5CE8B3520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AA30DBC-91AC-7E6A-38C1-440184E50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6F7CFD0-A39B-4678-DA4D-2266DD26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A9CA315-D579-20A8-D6E3-A9D6E147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93FC99-03AA-9077-76C0-09974004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05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ED6CC-158A-84D7-6BFC-1E3BB9FF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F9ED45-B8E6-41C8-AD7F-1187D3E6B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A459187-CFD1-1A78-8765-C5FF8CD1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F3ADEEB-8C58-708E-4E18-4BDADDD9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4937FEF-F8AE-1383-0F0C-7927E5B4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913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FCE0A-9A2B-4773-4867-9D0DDE3B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C41C40C-3062-9942-9EAC-D3DB5E9F6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B2915D-B302-B9C8-08CC-FBC4EA57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1DCF21E-57F8-48C2-42B0-D1DD18B2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67A773-45D7-2E81-6CF5-746E19B8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349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36D82-299F-FD06-6C46-794C6A36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AA99C2-B7F1-C049-B2E7-954C8D23F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7244D82-19ED-8AA7-21C2-8BEC7F443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E72285D-15D5-42B3-32AB-C3008BDF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DB10E4B-01A8-51BA-668D-20B79C13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C2C4F58-E713-D824-4ECE-C17903ED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277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7EDD6-4C6C-E7CE-34EA-25CF6203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4FACAC-0D37-9AB8-8F48-14F7A8A24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99085A0-788F-A8BE-038B-6EF864785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DED02C6-FEE7-E130-B5F7-66D9B9D6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8B68CD7-81EA-E58E-DFFA-D2ED767D1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5D6DE8C-4A89-738F-D32D-13904C65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2F29829-C162-C0CB-F5D4-9CC02E5E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62266C1-C1D7-F5FC-9F70-9EAE31C7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517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0A7E7-0207-03E8-5597-8A6CE0EB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63F0E81-457B-9B83-81C5-B69BAE04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EC2262E-7668-F6C2-0CDD-B44879D6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A6F39DF-91A7-21EE-4CD6-7E95F0E1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60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79A05F8-83A4-C36A-7B80-A2BA16A1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8700E00-9655-6BC6-8AAF-84020A6F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22A46C4-C775-EFEC-8D7C-C5ADA664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538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3BD82-DDA2-3AE1-5B8C-F7D29888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C285864-82F4-CD8E-0973-14F7F8CC6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C314A40-D082-B6C5-48E5-8CE1F7646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5AC5079-1A44-B5E3-3526-6641EFA1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C9A5F31-D1A0-96DC-E9A3-F3FF2201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C8E6AF8-6816-2F86-22B8-CCD944E6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9764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E9494-3146-B184-21BD-757BA2DB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FC5B57F-A44C-957E-C63C-B71E47F65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A0E0C2D-527E-3DE8-7DF7-C5A004809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1EFB8F5-6AF1-31EC-2191-72813577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DB4BAA1-A20C-0BC3-22E3-1CB11B41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30A9F10-6DB6-A5F9-FDEC-BD0E8B0D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762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51B4D-81DB-0295-86EB-6A1C696C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8A62D08-E7B0-FB14-ACBE-0E883AC15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928AF4-20B8-F71B-B91D-9160B9AA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77522F-531B-F1AA-F237-D70FA3FE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EB36A3C-D811-3CBD-51A3-98D24155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905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A450F11-ACDC-4BB3-1E81-69FE72B20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4B6B890-6C77-A6A8-1A5A-1FAF5C4B8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770249-3BB2-850B-BDAB-AFC79987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D6DC42D-F64E-7697-81AC-BACF725E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9826E5-1A61-FD71-3ACB-526EB14C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786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48F7F17-76DF-7C4C-4AFF-A8C84E92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F16580D-FB28-C127-37B3-A2D9D9D59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C78598A-DB8A-15A6-3A5F-834E24351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FD50E-AD5D-4A8E-BDF2-4F9CAAFDD8F1}" type="datetimeFigureOut">
              <a:rPr lang="uk-UA" smtClean="0"/>
              <a:t>05.05.2026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B06184-BC40-3760-4A48-78315F892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27E7F6-C7CC-806B-CC5A-6E4EA6B67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9E473-199D-463D-B7C7-B9F99895F3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188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910D64-066F-2955-5F84-045AEC098D96}"/>
              </a:ext>
            </a:extLst>
          </p:cNvPr>
          <p:cNvSpPr txBox="1"/>
          <p:nvPr/>
        </p:nvSpPr>
        <p:spPr>
          <a:xfrm>
            <a:off x="424543" y="1132114"/>
            <a:ext cx="287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Фінальний проєкт  курсу Аналітики даних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4C855-2A3E-5977-2B35-44B624C39C6A}"/>
              </a:ext>
            </a:extLst>
          </p:cNvPr>
          <p:cNvSpPr txBox="1"/>
          <p:nvPr/>
        </p:nvSpPr>
        <p:spPr>
          <a:xfrm>
            <a:off x="565031" y="4942114"/>
            <a:ext cx="287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Варчак Олег </a:t>
            </a:r>
          </a:p>
        </p:txBody>
      </p:sp>
      <p:pic>
        <p:nvPicPr>
          <p:cNvPr id="11" name="Рисунок 10" descr="Graph">
            <a:extLst>
              <a:ext uri="{FF2B5EF4-FFF2-40B4-BE49-F238E27FC236}">
                <a16:creationId xmlns:a16="http://schemas.microsoft.com/office/drawing/2014/main" id="{D0B620CA-46AE-75DA-7840-6B9BBC24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372" y="6822"/>
            <a:ext cx="7750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5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Technological background">
            <a:extLst>
              <a:ext uri="{FF2B5EF4-FFF2-40B4-BE49-F238E27FC236}">
                <a16:creationId xmlns:a16="http://schemas.microsoft.com/office/drawing/2014/main" id="{4BFF4227-8C00-3D1F-3651-A328A9E01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17609" b="-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4E5F0-22DB-2A48-A65F-DA89602816DE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latin typeface="+mj-lt"/>
                <a:ea typeface="+mj-ea"/>
                <a:cs typeface="+mj-cs"/>
              </a:rPr>
              <a:t>Частина</a:t>
            </a:r>
            <a:r>
              <a:rPr lang="en-US" sz="4800" b="1" dirty="0">
                <a:latin typeface="+mj-lt"/>
                <a:ea typeface="+mj-ea"/>
                <a:cs typeface="+mj-cs"/>
              </a:rPr>
              <a:t> 1  SQL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67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Technological background">
            <a:extLst>
              <a:ext uri="{FF2B5EF4-FFF2-40B4-BE49-F238E27FC236}">
                <a16:creationId xmlns:a16="http://schemas.microsoft.com/office/drawing/2014/main" id="{D15677F2-D028-9150-B893-5357B34B0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17609" b="-1"/>
          <a:stretch>
            <a:fillRect/>
          </a:stretch>
        </p:blipFill>
        <p:spPr>
          <a:xfrm>
            <a:off x="4724400" y="0"/>
            <a:ext cx="7467600" cy="685800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7CFBFB-0F16-B8B4-465B-FDA8F728F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16" y="1864563"/>
            <a:ext cx="1695687" cy="423921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F4A7CA-6DD3-63E9-42EF-133719632F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25" y="180188"/>
            <a:ext cx="5857591" cy="21711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0458B-2871-E411-E4E6-198BC6680F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025" y="3309459"/>
            <a:ext cx="2409326" cy="27943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6BB06D-6D75-8D71-B868-B3C17DC699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16" y="180188"/>
            <a:ext cx="4383475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1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FB5B-998E-F5C3-165C-E53CBC03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Technological background">
            <a:extLst>
              <a:ext uri="{FF2B5EF4-FFF2-40B4-BE49-F238E27FC236}">
                <a16:creationId xmlns:a16="http://schemas.microsoft.com/office/drawing/2014/main" id="{8614F5CB-68BE-6DE8-6A48-C49280991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17609" b="-1"/>
          <a:stretch>
            <a:fillRect/>
          </a:stretch>
        </p:blipFill>
        <p:spPr>
          <a:xfrm>
            <a:off x="4724400" y="0"/>
            <a:ext cx="7467600" cy="685800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F166FF-4EC7-AF34-590F-ABB7E568E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10" y="1432641"/>
            <a:ext cx="2219635" cy="25061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10B51B-73B1-5B18-F834-5195EB918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10" y="4326822"/>
            <a:ext cx="2181529" cy="2197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71E65A-E970-7591-B192-5BF5F279F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3069676"/>
            <a:ext cx="1939018" cy="173092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3E625C-0DE2-D3AC-730B-21F904E1C1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76" y="64177"/>
            <a:ext cx="4300996" cy="12965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91B6FD-38F4-C142-F487-13048733DE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4177"/>
            <a:ext cx="4771589" cy="156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6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A897-24F3-4BDF-B128-FEA3FF98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Technological background">
            <a:extLst>
              <a:ext uri="{FF2B5EF4-FFF2-40B4-BE49-F238E27FC236}">
                <a16:creationId xmlns:a16="http://schemas.microsoft.com/office/drawing/2014/main" id="{11688E97-19DE-29AE-BFD3-B4C43C651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17609" b="-1"/>
          <a:stretch>
            <a:fillRect/>
          </a:stretch>
        </p:blipFill>
        <p:spPr>
          <a:xfrm>
            <a:off x="4724400" y="0"/>
            <a:ext cx="7467600" cy="685800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F32C01-9172-81F3-DD96-AC60FED85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4" y="160870"/>
            <a:ext cx="8070976" cy="11671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C1BF51-9419-1386-925C-60A235CCD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372" y="391885"/>
            <a:ext cx="3181794" cy="5715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287168-9B9E-9EFC-E19A-C265A5E6EB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6" y="1936005"/>
            <a:ext cx="11214686" cy="19958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C072B16-C279-45E7-9E6E-57EC4BF54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09" y="4194634"/>
            <a:ext cx="385816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4162-1FE3-30B6-4B65-9F6449C2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Technological background">
            <a:extLst>
              <a:ext uri="{FF2B5EF4-FFF2-40B4-BE49-F238E27FC236}">
                <a16:creationId xmlns:a16="http://schemas.microsoft.com/office/drawing/2014/main" id="{574F0B69-92F7-B2D7-69D3-5E1DBE405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17609" b="-1"/>
          <a:stretch>
            <a:fillRect/>
          </a:stretch>
        </p:blipFill>
        <p:spPr>
          <a:xfrm>
            <a:off x="4724400" y="0"/>
            <a:ext cx="7467600" cy="685800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312559-5274-1120-B6D2-31F440506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61" y="685800"/>
            <a:ext cx="10672180" cy="19343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BDDC87-49F0-1073-5313-3402E522B0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794" y="3429000"/>
            <a:ext cx="414395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1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Graphs and plots layered on a blue digital screen">
            <a:extLst>
              <a:ext uri="{FF2B5EF4-FFF2-40B4-BE49-F238E27FC236}">
                <a16:creationId xmlns:a16="http://schemas.microsoft.com/office/drawing/2014/main" id="{5957DC86-5122-135B-9430-ADA636D69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2710542" y="10"/>
            <a:ext cx="9481455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8DB95-CF56-C010-F3B6-94E9BAFAAA50}"/>
              </a:ext>
            </a:extLst>
          </p:cNvPr>
          <p:cNvSpPr txBox="1"/>
          <p:nvPr/>
        </p:nvSpPr>
        <p:spPr>
          <a:xfrm>
            <a:off x="609600" y="2423315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uk-U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uk-UA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uk-UA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даних ІКЕА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04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2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06203-3FB1-8769-470F-B9E854348B5F}"/>
              </a:ext>
            </a:extLst>
          </p:cNvPr>
          <p:cNvSpPr txBox="1"/>
          <p:nvPr/>
        </p:nvSpPr>
        <p:spPr>
          <a:xfrm>
            <a:off x="640080" y="4419600"/>
            <a:ext cx="10908792" cy="1203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Завантаження бази даних IKEA</a:t>
            </a:r>
          </a:p>
        </p:txBody>
      </p:sp>
      <p:pic>
        <p:nvPicPr>
          <p:cNvPr id="4" name="Рисунок 3" descr="Graphs and plots layered on a blue digital screen">
            <a:extLst>
              <a:ext uri="{FF2B5EF4-FFF2-40B4-BE49-F238E27FC236}">
                <a16:creationId xmlns:a16="http://schemas.microsoft.com/office/drawing/2014/main" id="{7C57BFC8-2021-E02F-0818-D2518B529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0"/>
          <a:stretch>
            <a:fillRect/>
          </a:stretch>
        </p:blipFill>
        <p:spPr>
          <a:xfrm>
            <a:off x="6" y="-11"/>
            <a:ext cx="6095994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16380E-0619-D90E-73D0-7DC6E8479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47"/>
          <a:stretch>
            <a:fillRect/>
          </a:stretch>
        </p:blipFill>
        <p:spPr>
          <a:xfrm>
            <a:off x="6019800" y="12"/>
            <a:ext cx="6172195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</p:spPr>
      </p:pic>
      <p:sp>
        <p:nvSpPr>
          <p:cNvPr id="33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8439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4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6BD5-1EA9-BB7E-7A63-D07AD5CA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Graphs and plots layered on a blue digital screen">
            <a:extLst>
              <a:ext uri="{FF2B5EF4-FFF2-40B4-BE49-F238E27FC236}">
                <a16:creationId xmlns:a16="http://schemas.microsoft.com/office/drawing/2014/main" id="{A9BCCEED-0E4D-108B-4D19-01F6AD136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3635829" y="10"/>
            <a:ext cx="8556168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FE5A0F-B9B9-0146-2436-00E0A653E1E5}"/>
              </a:ext>
            </a:extLst>
          </p:cNvPr>
          <p:cNvSpPr txBox="1"/>
          <p:nvPr/>
        </p:nvSpPr>
        <p:spPr>
          <a:xfrm>
            <a:off x="446314" y="217714"/>
            <a:ext cx="564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/>
              <a:t>Перегляд і очистка даних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9B25E3-1A41-EE4A-E120-17502603B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970"/>
            <a:ext cx="7424057" cy="56170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C5AF37-0792-312B-B3C1-0D03522BD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332" y="-1"/>
            <a:ext cx="8203731" cy="12409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8EF1F88-1C1D-395D-3A5B-2506B2D6E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725" y="1824668"/>
            <a:ext cx="4469670" cy="394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62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0540-00E3-98A4-4EF4-EAFB261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Graphs and plots layered on a blue digital screen">
            <a:extLst>
              <a:ext uri="{FF2B5EF4-FFF2-40B4-BE49-F238E27FC236}">
                <a16:creationId xmlns:a16="http://schemas.microsoft.com/office/drawing/2014/main" id="{69F1D2B2-732F-0F05-D9CF-E7D25EC86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2710542" y="10"/>
            <a:ext cx="9481455" cy="685799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186E8E-30C8-FDAF-3187-5E79F1D0D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4" y="0"/>
            <a:ext cx="2050785" cy="29149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4D17D-5150-A9C0-EFCC-48281121C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4" y="3002039"/>
            <a:ext cx="3178098" cy="35729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326E79-3BE4-A8BD-DA6F-D795665642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327" y="112627"/>
            <a:ext cx="5639587" cy="44773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171825-9CC4-128A-B1D0-17032F5BE3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465" y="5085737"/>
            <a:ext cx="432495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9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9E81-1BF9-41CD-92F9-64679DEA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Graphs and plots layered on a blue digital screen">
            <a:extLst>
              <a:ext uri="{FF2B5EF4-FFF2-40B4-BE49-F238E27FC236}">
                <a16:creationId xmlns:a16="http://schemas.microsoft.com/office/drawing/2014/main" id="{5A29581F-EDF1-90CD-2698-7C87840DE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2710542" y="10"/>
            <a:ext cx="9481455" cy="685799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9999D4-BA07-3B0C-F816-301D08EB7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946" y="206786"/>
            <a:ext cx="8842917" cy="64444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166220-F240-19BD-C78C-090EDA592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9" y="810626"/>
            <a:ext cx="2630293" cy="52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1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95042026-03BB-C884-165F-CC6D23AB8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E9DDA3-A9AE-4D36-F35E-34A8F88CE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062" y="89211"/>
            <a:ext cx="6163578" cy="489538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C7BF40-21D1-8D10-A64C-D73291F9F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0" y="89211"/>
            <a:ext cx="5728865" cy="4895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C6F083-D0EE-F282-099C-02BCB10A5656}"/>
              </a:ext>
            </a:extLst>
          </p:cNvPr>
          <p:cNvSpPr txBox="1"/>
          <p:nvPr/>
        </p:nvSpPr>
        <p:spPr>
          <a:xfrm>
            <a:off x="267629" y="5263376"/>
            <a:ext cx="521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Найвища медіанна ціна в категорії шафи, дивани, крісла і ліжка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7EB1B-F48D-7FD2-CC35-C5DEA932727A}"/>
              </a:ext>
            </a:extLst>
          </p:cNvPr>
          <p:cNvSpPr txBox="1"/>
          <p:nvPr/>
        </p:nvSpPr>
        <p:spPr>
          <a:xfrm>
            <a:off x="6735337" y="5263376"/>
            <a:ext cx="479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Найбільша кількість представлених товарів в групах Книжкові шафи та стелажі, стільці, дивани та крісла, стільці та столи.</a:t>
            </a:r>
          </a:p>
        </p:txBody>
      </p:sp>
    </p:spTree>
    <p:extLst>
      <p:ext uri="{BB962C8B-B14F-4D97-AF65-F5344CB8AC3E}">
        <p14:creationId xmlns:p14="http://schemas.microsoft.com/office/powerpoint/2010/main" val="394178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F380624C-3B17-EE6B-4E28-3B7B0ADFC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6E027E-57E0-81DC-03C8-5FE0B6EAE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" y="92597"/>
            <a:ext cx="5729468" cy="51623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970F22-17D7-C83B-83C6-DB08EEC5A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094" y="92596"/>
            <a:ext cx="6327331" cy="51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7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0C3CFB45-0A4D-4F59-3FA2-DF96054BA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6487A7-C429-D37B-855C-D8C785B6D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5" y="111512"/>
            <a:ext cx="8825847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30855C-FA59-3599-F236-11EAC12E1BD3}"/>
              </a:ext>
            </a:extLst>
          </p:cNvPr>
          <p:cNvSpPr txBox="1"/>
          <p:nvPr/>
        </p:nvSpPr>
        <p:spPr>
          <a:xfrm>
            <a:off x="9110547" y="992037"/>
            <a:ext cx="3019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Найбільша залежність ціни</a:t>
            </a:r>
          </a:p>
          <a:p>
            <a:r>
              <a:rPr lang="uk-UA" dirty="0">
                <a:solidFill>
                  <a:schemeClr val="bg1"/>
                </a:solidFill>
              </a:rPr>
              <a:t> від ширини</a:t>
            </a:r>
          </a:p>
          <a:p>
            <a:r>
              <a:rPr lang="uk-UA" dirty="0">
                <a:solidFill>
                  <a:schemeClr val="bg1"/>
                </a:solidFill>
              </a:rPr>
              <a:t>Потім глибини</a:t>
            </a:r>
          </a:p>
        </p:txBody>
      </p:sp>
    </p:spTree>
    <p:extLst>
      <p:ext uri="{BB962C8B-B14F-4D97-AF65-F5344CB8AC3E}">
        <p14:creationId xmlns:p14="http://schemas.microsoft.com/office/powerpoint/2010/main" val="2556059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E212A9BE-7DBA-6F04-C957-4E95D470D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CFD72-E1B0-C6C9-F5A7-C83910FFF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9" y="78060"/>
            <a:ext cx="6000120" cy="32673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4B144A-3DB8-C73D-A1EB-900DB960F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" y="3434574"/>
            <a:ext cx="6000121" cy="334536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7F47CC-8956-3CA5-C748-BCF0DBE7CF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353" y="3429000"/>
            <a:ext cx="5905769" cy="3345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430BD1-0366-14AC-44A1-D9E9125241F2}"/>
              </a:ext>
            </a:extLst>
          </p:cNvPr>
          <p:cNvSpPr txBox="1"/>
          <p:nvPr/>
        </p:nvSpPr>
        <p:spPr>
          <a:xfrm>
            <a:off x="7437863" y="78060"/>
            <a:ext cx="43378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Найбільше представлено товарів від дизайнерів </a:t>
            </a:r>
            <a:r>
              <a:rPr lang="en-US" dirty="0">
                <a:solidFill>
                  <a:schemeClr val="bg1"/>
                </a:solidFill>
              </a:rPr>
              <a:t>Ikea, </a:t>
            </a:r>
            <a:r>
              <a:rPr lang="uk-UA" dirty="0">
                <a:solidFill>
                  <a:schemeClr val="bg1"/>
                </a:solidFill>
              </a:rPr>
              <a:t>найвища медіанна ціна серед ТОП 15 дизайнерів по кількості</a:t>
            </a:r>
            <a:br>
              <a:rPr lang="uk-UA" dirty="0">
                <a:solidFill>
                  <a:schemeClr val="bg1"/>
                </a:solidFill>
              </a:rPr>
            </a:br>
            <a:r>
              <a:rPr lang="uk-UA" dirty="0">
                <a:solidFill>
                  <a:schemeClr val="bg1"/>
                </a:solidFill>
              </a:rPr>
              <a:t>це </a:t>
            </a:r>
            <a:r>
              <a:rPr lang="en-US" dirty="0">
                <a:solidFill>
                  <a:schemeClr val="bg1"/>
                </a:solidFill>
              </a:rPr>
              <a:t>K </a:t>
            </a:r>
            <a:r>
              <a:rPr lang="en-US" dirty="0" err="1">
                <a:solidFill>
                  <a:schemeClr val="bg1"/>
                </a:solidFill>
              </a:rPr>
              <a:t>Malmvall</a:t>
            </a:r>
            <a:r>
              <a:rPr lang="en-US" dirty="0">
                <a:solidFill>
                  <a:schemeClr val="bg1"/>
                </a:solidFill>
              </a:rPr>
              <a:t>/E Lilja </a:t>
            </a:r>
            <a:r>
              <a:rPr lang="en-US" dirty="0" err="1">
                <a:solidFill>
                  <a:schemeClr val="bg1"/>
                </a:solidFill>
              </a:rPr>
              <a:t>Löwenhielm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uk-UA" dirty="0">
                <a:solidFill>
                  <a:schemeClr val="bg1"/>
                </a:solidFill>
              </a:rPr>
              <a:t>в них 55 товарів). А ось найвища медіанна ціна по всім дизайнерам це у</a:t>
            </a:r>
            <a:br>
              <a:rPr lang="uk-UA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Ehlén</a:t>
            </a:r>
            <a:r>
              <a:rPr lang="en-US" dirty="0">
                <a:solidFill>
                  <a:schemeClr val="bg1"/>
                </a:solidFill>
              </a:rPr>
              <a:t> Johansson/Fredriksson/L </a:t>
            </a:r>
            <a:r>
              <a:rPr lang="en-US" dirty="0" err="1">
                <a:solidFill>
                  <a:schemeClr val="bg1"/>
                </a:solidFill>
              </a:rPr>
              <a:t>Löwenhielm</a:t>
            </a:r>
            <a:r>
              <a:rPr lang="en-US" dirty="0">
                <a:solidFill>
                  <a:schemeClr val="bg1"/>
                </a:solidFill>
              </a:rPr>
              <a:t>/Hilland </a:t>
            </a:r>
            <a:r>
              <a:rPr lang="uk-UA" dirty="0">
                <a:solidFill>
                  <a:schemeClr val="bg1"/>
                </a:solidFill>
              </a:rPr>
              <a:t>ця група з дизайнерів представлена 1 позицією</a:t>
            </a:r>
          </a:p>
          <a:p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691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982A1E8C-9F72-8261-2AC1-2C0FD8C8A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-132533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587992-2577-C219-C7AA-A1536D5C8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0" y="133815"/>
            <a:ext cx="5389999" cy="55801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7C3823-4AAE-B038-2591-8328A8B6D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345" y="133814"/>
            <a:ext cx="6406245" cy="5580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DE012-4AA4-7ACF-59E3-801EA0ECEB06}"/>
              </a:ext>
            </a:extLst>
          </p:cNvPr>
          <p:cNvSpPr txBox="1"/>
          <p:nvPr/>
        </p:nvSpPr>
        <p:spPr>
          <a:xfrm>
            <a:off x="301083" y="5898995"/>
            <a:ext cx="565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Наявність інших кольорів є в 45% товарів і медіанна ціна вища там де є інші кольори</a:t>
            </a:r>
          </a:p>
        </p:txBody>
      </p:sp>
    </p:spTree>
    <p:extLst>
      <p:ext uri="{BB962C8B-B14F-4D97-AF65-F5344CB8AC3E}">
        <p14:creationId xmlns:p14="http://schemas.microsoft.com/office/powerpoint/2010/main" val="197822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8AB1ED44-AFD5-ACB6-7ED3-35E7785EF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5ABD0A-0E07-5D0B-81BE-C47442782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2" y="66908"/>
            <a:ext cx="6349783" cy="670188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00AD73-BF61-60C5-716E-207AEF442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122" y="66908"/>
            <a:ext cx="5596445" cy="4170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F6E71-C907-27F3-79E2-B549C38845B3}"/>
              </a:ext>
            </a:extLst>
          </p:cNvPr>
          <p:cNvSpPr txBox="1"/>
          <p:nvPr/>
        </p:nvSpPr>
        <p:spPr>
          <a:xfrm>
            <a:off x="9288966" y="4493941"/>
            <a:ext cx="2732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Доступність товарів які продаються онлайн це 99% і медіанна ціна їх вища</a:t>
            </a:r>
          </a:p>
        </p:txBody>
      </p:sp>
    </p:spTree>
    <p:extLst>
      <p:ext uri="{BB962C8B-B14F-4D97-AF65-F5344CB8AC3E}">
        <p14:creationId xmlns:p14="http://schemas.microsoft.com/office/powerpoint/2010/main" val="4097870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396A-AF0E-C856-B37A-17E3C73E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B41A000D-7548-0759-91EE-5E5E35857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F251D-6E44-3005-7E7A-89E948E6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1" y="111512"/>
            <a:ext cx="9255512" cy="6601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39ED0-B120-FAEC-C8A5-8BBBBFF6A9C6}"/>
              </a:ext>
            </a:extLst>
          </p:cNvPr>
          <p:cNvSpPr txBox="1"/>
          <p:nvPr/>
        </p:nvSpPr>
        <p:spPr>
          <a:xfrm>
            <a:off x="9612351" y="2219093"/>
            <a:ext cx="2386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З лінії </a:t>
            </a:r>
            <a:r>
              <a:rPr lang="uk-UA">
                <a:solidFill>
                  <a:schemeClr val="bg1"/>
                </a:solidFill>
              </a:rPr>
              <a:t>регресії можна </a:t>
            </a:r>
            <a:r>
              <a:rPr lang="uk-UA" dirty="0">
                <a:solidFill>
                  <a:schemeClr val="bg1"/>
                </a:solidFill>
              </a:rPr>
              <a:t>прийти до висновку, що нова ціна залежить від старої</a:t>
            </a:r>
          </a:p>
          <a:p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302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54D1-00BB-5696-932A-8E5FC84A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4653BD45-E8DA-5BDD-C0E5-554CD256A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DFCA4E-3458-D74E-E0AA-AE8409BD4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67" y="266701"/>
            <a:ext cx="5787102" cy="64865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8B9B65-BAD8-B99A-1648-5E4BEA765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016" y="266701"/>
            <a:ext cx="5787103" cy="10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79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30C8-882A-3A9C-5CD2-41AE5A228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C62917FF-62F0-3A3C-E1C7-8E767AB7E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2AC0FC-D3C0-BB5D-FA5A-BC58866FA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" y="147390"/>
            <a:ext cx="5694574" cy="54379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1D13F8-181D-BDC9-B39E-EE79DE477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08" y="147390"/>
            <a:ext cx="6154009" cy="45028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BC135C7-6521-119C-DFF0-3E7FF7B59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0" y="4676986"/>
            <a:ext cx="6109597" cy="21529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B14A98-FBDE-E5B7-26AB-BBB3E623C4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7" y="5732764"/>
            <a:ext cx="5694574" cy="109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70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551E-5FD0-FFA2-D4FD-6B18627B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185C2C01-79D1-C9D2-1BB4-92F006D76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4E393-7A05-304B-13AA-994F2A319CDE}"/>
              </a:ext>
            </a:extLst>
          </p:cNvPr>
          <p:cNvSpPr txBox="1"/>
          <p:nvPr/>
        </p:nvSpPr>
        <p:spPr>
          <a:xfrm>
            <a:off x="7206343" y="664029"/>
            <a:ext cx="46699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Машинне навчання</a:t>
            </a:r>
          </a:p>
        </p:txBody>
      </p:sp>
    </p:spTree>
    <p:extLst>
      <p:ext uri="{BB962C8B-B14F-4D97-AF65-F5344CB8AC3E}">
        <p14:creationId xmlns:p14="http://schemas.microsoft.com/office/powerpoint/2010/main" val="3427927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BF2F-DC83-3A4C-ACE8-C84DF9B1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D5242BDB-C7F4-7D44-FD5B-D446C3321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6F782D-D88A-D85B-0E46-AC781025E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230" y="122745"/>
            <a:ext cx="6357256" cy="66620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EBA4F7-E85C-1615-38CE-FCF9ED641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2" y="122745"/>
            <a:ext cx="5526446" cy="666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11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658D8-FB51-8710-F09E-83600474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BFBAB85A-108D-F0C4-F470-73BD5D60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0" y="0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B02F43-7416-E9E9-89C7-57B321BA6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2" y="130630"/>
            <a:ext cx="5792570" cy="44087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1C7441-EEB5-DDC1-559E-5CAB5C17A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0" y="130630"/>
            <a:ext cx="5857872" cy="44087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58D271-172E-C0A8-9273-FC34D40B5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555" y="4645300"/>
            <a:ext cx="5039731" cy="208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1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85B5-7313-7E23-4BCA-EB38F9B7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CC03B404-8896-C681-C10E-2EE0F72F0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43460D-12DC-FE12-0C22-49BD3BAA2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38" y="107764"/>
            <a:ext cx="5988447" cy="66631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0EDD84-FF32-5D80-9DFA-B8291F8AF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3" y="107765"/>
            <a:ext cx="5852370" cy="66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24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4D76-6D15-1554-2942-091A75BB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A539AACB-B1E8-822D-1263-C4782A030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AAA82E-5836-C3DD-F7B0-3D2F87A50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4" y="76200"/>
            <a:ext cx="5780266" cy="367937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7675A9-7EEF-25A4-AB0E-3E1ADEDE8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514" y="76200"/>
            <a:ext cx="6150352" cy="36793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9FA2C2-6AC7-A234-7150-5FA2C420EA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3" y="3901652"/>
            <a:ext cx="5780265" cy="28102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2809CA-93B1-3A82-A5D5-DE020B6F88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511" y="3901652"/>
            <a:ext cx="6150353" cy="28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7843-4846-C2E1-2FCF-60C87EDD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88339105-AA34-A77C-E88A-5B16B009A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482681-D41A-56DF-3E64-F70CFEA9A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3"/>
            <a:ext cx="5758543" cy="664028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DE634AF-4D63-8948-7CE1-BE8E0E22D2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43" y="119743"/>
            <a:ext cx="6248401" cy="664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46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853F-27A3-BC3C-8173-E41B2EF6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5C5709D0-1D83-6796-5261-DC535C151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E916DF-39F9-F8D9-3BDC-C9D5CEDF1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97972"/>
            <a:ext cx="5689917" cy="66076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B42C5-6FC9-9E62-56B1-A3499B471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3" y="97972"/>
            <a:ext cx="6198231" cy="660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26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0F36-0DA8-6564-A74F-51878DFB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02EA319E-F39B-0A7A-AA61-EC853990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ABD2D5-63A4-4593-A4A8-2D4BB1C74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5" y="98346"/>
            <a:ext cx="5970045" cy="54007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1624DA-5916-562D-8908-C616D3962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6" y="5596157"/>
            <a:ext cx="5988778" cy="11634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294B59-BA5A-1D54-8C5B-FC9448D4B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734" y="98347"/>
            <a:ext cx="5970046" cy="34500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CC98F6-A25B-82F8-104E-25B072170B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734" y="3645485"/>
            <a:ext cx="5951310" cy="311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29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92F0-89AF-3765-D061-8F7D853B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The futuristic interface of a planet">
            <a:extLst>
              <a:ext uri="{FF2B5EF4-FFF2-40B4-BE49-F238E27FC236}">
                <a16:creationId xmlns:a16="http://schemas.microsoft.com/office/drawing/2014/main" id="{0E05CEDC-8C7B-D65E-719B-8AD65E7F0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C9EB1-F422-0282-4CEA-EEB0185645EA}"/>
              </a:ext>
            </a:extLst>
          </p:cNvPr>
          <p:cNvSpPr txBox="1"/>
          <p:nvPr/>
        </p:nvSpPr>
        <p:spPr>
          <a:xfrm>
            <a:off x="359509" y="920026"/>
            <a:ext cx="10910276" cy="343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uk-UA" sz="20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ЗАГАЛЬНИЙ ВИСНОВОК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  <a:buNone/>
            </a:pPr>
            <a:r>
              <a:rPr lang="uk-UA" sz="20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У роботі було проведено комплексний аналіз даних про товари IKEA, включаючи очищення даних, дослідницький аналіз, перевірку гіпотез та побудову моделей машинного навчання. </a:t>
            </a:r>
            <a:r>
              <a:rPr lang="uk-UA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Встановлено</a:t>
            </a:r>
            <a:r>
              <a:rPr lang="uk-UA" sz="20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що основними факторами, які впливають на ціну, є габарити товару, зокрема ширина та глибина. Водночас дизайнер та кількість товарів у категорії не мають статистично значущого впливу на ціну. Було підтверджено, що ціни суттєво відрізняються між категоріями. Найкращі результати прогнозування показали ансамблеві моделі, зокрема </a:t>
            </a:r>
            <a:r>
              <a:rPr lang="uk-UA" sz="2000" b="1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XGBRegressor</a:t>
            </a:r>
            <a:r>
              <a:rPr lang="uk-UA" sz="20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(R² ≈ 0.81). Отримана модель є стабільною та може бути використана для прогнозування цін.</a:t>
            </a:r>
          </a:p>
        </p:txBody>
      </p:sp>
    </p:spTree>
    <p:extLst>
      <p:ext uri="{BB962C8B-B14F-4D97-AF65-F5344CB8AC3E}">
        <p14:creationId xmlns:p14="http://schemas.microsoft.com/office/powerpoint/2010/main" val="78320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Digital financial graph">
            <a:extLst>
              <a:ext uri="{FF2B5EF4-FFF2-40B4-BE49-F238E27FC236}">
                <a16:creationId xmlns:a16="http://schemas.microsoft.com/office/drawing/2014/main" id="{D5877B93-1653-105C-7E3B-1FEB6BF4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B1AA3A-6171-6F26-BCEF-E08C950DB859}"/>
              </a:ext>
            </a:extLst>
          </p:cNvPr>
          <p:cNvSpPr txBox="1"/>
          <p:nvPr/>
        </p:nvSpPr>
        <p:spPr>
          <a:xfrm>
            <a:off x="581891" y="755073"/>
            <a:ext cx="50084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 3</a:t>
            </a:r>
          </a:p>
          <a:p>
            <a:r>
              <a:rPr lang="uk-UA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uk-UA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61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6CF7A6-7634-C468-AD94-8981A4620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95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6AD36B-0093-C8E3-9472-6CF1D54CF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2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880F4C-3A89-C09C-1CD9-9375DBCA6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21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146883-3F67-1A71-0F79-F827FC4FF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79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924BF5-EAD5-B044-83B8-4FA42A0EC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11"/>
            <a:ext cx="12192000" cy="683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5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Рисунок 2" descr="Blue and white gradient">
            <a:extLst>
              <a:ext uri="{FF2B5EF4-FFF2-40B4-BE49-F238E27FC236}">
                <a16:creationId xmlns:a16="http://schemas.microsoft.com/office/drawing/2014/main" id="{0371E8F6-458D-F0B7-4B66-C8AE38B98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92" b="612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13DEC6-C646-9CF6-5EB5-F6254D8EA793}"/>
              </a:ext>
            </a:extLst>
          </p:cNvPr>
          <p:cNvSpPr txBox="1"/>
          <p:nvPr/>
        </p:nvSpPr>
        <p:spPr>
          <a:xfrm>
            <a:off x="3207224" y="1856096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38348171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284</Words>
  <Application>Microsoft Office PowerPoint</Application>
  <PresentationFormat>Широкий екран</PresentationFormat>
  <Paragraphs>31</Paragraphs>
  <Slides>36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Олег Варчак</dc:creator>
  <cp:lastModifiedBy>Олег Варчак</cp:lastModifiedBy>
  <cp:revision>21</cp:revision>
  <dcterms:created xsi:type="dcterms:W3CDTF">2026-03-20T10:28:10Z</dcterms:created>
  <dcterms:modified xsi:type="dcterms:W3CDTF">2026-05-05T09:03:37Z</dcterms:modified>
</cp:coreProperties>
</file>